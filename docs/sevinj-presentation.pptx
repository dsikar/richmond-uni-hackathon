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DEF919-7BBC-4265-94E0-A6772CA03F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B0B4753-6D9E-4DD8-9DD0-A483887284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EF2A701-D202-4082-B2F3-951BC8AD26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F6DF7BE-42CF-4CD2-99FC-0416729F34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DB68F02-AD46-4A0F-92A1-F5D962F2CEC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BBB32CF-4FA4-4412-985A-390CBF8550F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39B3004-8735-4339-972C-156220B926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39E74C1-60EC-4D88-BC9E-49CFBCA239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C40CB71-7E30-478E-B1A1-268FB4BBB1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D050E827-22CD-4D63-9A53-A1D08B2E8F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50C92E3-9F43-4A8B-8FC5-DC765319B1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02711-7A3F-49BF-9B69-F1447CB9E0E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0E0F98-21C0-47AD-8D7C-179D3F87A57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F5AA3BD-A65B-417A-9EC7-C71166F4C8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D04C09-20D0-4831-806B-898D78BA480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20BE44E-A1E6-4745-8B57-33346A96E8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76CA20-3AAE-4C3F-9107-0F220B31F7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771F1F-5DB1-4631-B86C-FDAAD3D070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154565C-DD7A-4836-8639-E82F85F9808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E97E221-5AFC-4A9F-859C-3B05591FF0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7A2D74-6E23-4EFF-BFBC-E342109E4CC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CBE653-5A8F-4B8F-ADC8-BCCB428A89D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clinical-ai-hackathon-splash.jpg"/>
          <p:cNvPicPr/>
          <p:nvPr/>
        </p:nvPicPr>
        <p:blipFill>
          <a:blip r:embed="rId1"/>
          <a:stretch/>
        </p:blipFill>
        <p:spPr>
          <a:xfrm>
            <a:off x="900000" y="360000"/>
            <a:ext cx="10501920" cy="5907240"/>
          </a:xfrm>
          <a:prstGeom prst="rect">
            <a:avLst/>
          </a:prstGeom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6455520"/>
            <a:ext cx="41144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658440" y="384120"/>
            <a:ext cx="456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21212"/>
                </a:solidFill>
                <a:latin typeface="Arial"/>
              </a:rPr>
              <a:t>02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658440" y="804600"/>
            <a:ext cx="106981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21212"/>
                </a:solidFill>
                <a:latin typeface="Arial"/>
              </a:rPr>
              <a:t>CLINICAL AI HACKATHON</a:t>
            </a:r>
            <a:endParaRPr b="0" lang="en-GB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658440" y="170064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987480" y="170064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City St George's University of London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658440" y="244152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987480" y="244152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16-20 March 2026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658440" y="318204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987480" y="318204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74 signed up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658440" y="392292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987480" y="392292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32 finalists - 8 teams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1"/>
          <p:cNvSpPr/>
          <p:nvPr/>
        </p:nvSpPr>
        <p:spPr>
          <a:xfrm>
            <a:off x="658440" y="466344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12"/>
          <p:cNvSpPr/>
          <p:nvPr/>
        </p:nvSpPr>
        <p:spPr>
          <a:xfrm>
            <a:off x="987480" y="466344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Majority MSc students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13"/>
          <p:cNvSpPr/>
          <p:nvPr/>
        </p:nvSpPr>
        <p:spPr>
          <a:xfrm>
            <a:off x="658440" y="5403960"/>
            <a:ext cx="2282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14"/>
          <p:cNvSpPr/>
          <p:nvPr/>
        </p:nvSpPr>
        <p:spPr>
          <a:xfrm>
            <a:off x="987480" y="5403960"/>
            <a:ext cx="1027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20 March coincided with Eid - a poor date choice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15"/>
          <p:cNvSpPr/>
          <p:nvPr/>
        </p:nvSpPr>
        <p:spPr>
          <a:xfrm>
            <a:off x="658440" y="6473880"/>
            <a:ext cx="58518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  /  16-20 MARCH 2026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658440" y="384120"/>
            <a:ext cx="456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21212"/>
                </a:solidFill>
                <a:latin typeface="Arial"/>
              </a:rPr>
              <a:t>03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658440" y="804600"/>
            <a:ext cx="106981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21212"/>
                </a:solidFill>
                <a:latin typeface="Arial"/>
              </a:rPr>
              <a:t>REAL-WORLD PROBLEM</a:t>
            </a:r>
            <a:endParaRPr b="0" lang="en-GB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658440" y="170064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987480" y="170064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Set by MOD and NHS clinicians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5"/>
          <p:cNvSpPr/>
          <p:nvPr/>
        </p:nvSpPr>
        <p:spPr>
          <a:xfrm>
            <a:off x="658440" y="251460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6"/>
          <p:cNvSpPr/>
          <p:nvPr/>
        </p:nvSpPr>
        <p:spPr>
          <a:xfrm>
            <a:off x="987480" y="251460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50 synthetic MDT records provided by the NHS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658440" y="332856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8"/>
          <p:cNvSpPr/>
          <p:nvPr/>
        </p:nvSpPr>
        <p:spPr>
          <a:xfrm>
            <a:off x="987480" y="3328560"/>
            <a:ext cx="1027764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Multidisciplinary Team (MDT) discussions record cancer-treatment decisions in unstructured documents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9"/>
          <p:cNvSpPr/>
          <p:nvPr/>
        </p:nvSpPr>
        <p:spPr>
          <a:xfrm>
            <a:off x="658440" y="461772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987480" y="4617720"/>
            <a:ext cx="1027764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Task: extract patient history and decisions into an Excel row to inform the next step in treatment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11"/>
          <p:cNvSpPr/>
          <p:nvPr/>
        </p:nvSpPr>
        <p:spPr>
          <a:xfrm>
            <a:off x="658440" y="6473880"/>
            <a:ext cx="58518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  /  16-20 MARCH 2026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658440" y="384120"/>
            <a:ext cx="456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21212"/>
                </a:solidFill>
                <a:latin typeface="Arial"/>
              </a:rPr>
              <a:t>04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658440" y="804600"/>
            <a:ext cx="106981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21212"/>
                </a:solidFill>
                <a:latin typeface="Arial"/>
              </a:rPr>
              <a:t>THE CHALLENGE: SOURCE AND OUTPUT</a:t>
            </a:r>
            <a:endParaRPr b="0" lang="en-GB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658440" y="1600200"/>
            <a:ext cx="4754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21212"/>
                </a:solidFill>
                <a:latin typeface="Arial"/>
              </a:rPr>
              <a:t>MDT RECORD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6400800" y="1600200"/>
            <a:ext cx="51202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21212"/>
                </a:solidFill>
                <a:latin typeface="Arial"/>
              </a:rPr>
              <a:t>EXCEL OUTPUT ROW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Picture 5" descr="mdt-outcome-example.png"/>
          <p:cNvPicPr/>
          <p:nvPr/>
        </p:nvPicPr>
        <p:blipFill>
          <a:blip r:embed="rId1"/>
          <a:stretch/>
        </p:blipFill>
        <p:spPr>
          <a:xfrm>
            <a:off x="2057400" y="1984320"/>
            <a:ext cx="4073040" cy="4132800"/>
          </a:xfrm>
          <a:prstGeom prst="rect">
            <a:avLst/>
          </a:prstGeom>
          <a:ln w="0">
            <a:noFill/>
          </a:ln>
        </p:spPr>
      </p:pic>
      <p:pic>
        <p:nvPicPr>
          <p:cNvPr id="100" name="Picture 6" descr="prototype-example.png"/>
          <p:cNvPicPr/>
          <p:nvPr/>
        </p:nvPicPr>
        <p:blipFill>
          <a:blip r:embed="rId2"/>
          <a:stretch/>
        </p:blipFill>
        <p:spPr>
          <a:xfrm>
            <a:off x="6556320" y="3429000"/>
            <a:ext cx="4663080" cy="564840"/>
          </a:xfrm>
          <a:prstGeom prst="rect">
            <a:avLst/>
          </a:prstGeom>
          <a:ln w="0">
            <a:noFill/>
          </a:ln>
        </p:spPr>
      </p:pic>
      <p:sp>
        <p:nvSpPr>
          <p:cNvPr id="101" name="TextBox 7"/>
          <p:cNvSpPr/>
          <p:nvPr/>
        </p:nvSpPr>
        <p:spPr>
          <a:xfrm>
            <a:off x="658440" y="6473880"/>
            <a:ext cx="58518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  /  16-20 MARCH 2026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658440" y="384120"/>
            <a:ext cx="456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21212"/>
                </a:solidFill>
                <a:latin typeface="Arial"/>
              </a:rPr>
              <a:t>05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658440" y="804600"/>
            <a:ext cx="106981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21212"/>
                </a:solidFill>
                <a:latin typeface="Arial"/>
              </a:rPr>
              <a:t>REAL-WORLD PROBLEM, CONTINUED</a:t>
            </a:r>
            <a:endParaRPr b="0" lang="en-GB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658440" y="170064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4"/>
          <p:cNvSpPr/>
          <p:nvPr/>
        </p:nvSpPr>
        <p:spPr>
          <a:xfrm>
            <a:off x="987480" y="1700640"/>
            <a:ext cx="1027764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Success criterion: the spreadsheet accurately reflects the history in the source MDT documents; unknown fields remain empty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658440" y="309060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987480" y="3090600"/>
            <a:ext cx="102776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Winning categories: Best solution, Best understanding, Overall winner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658440" y="4297680"/>
            <a:ext cx="228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987480" y="4297680"/>
            <a:ext cx="1027764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121212"/>
                </a:solidFill>
                <a:latin typeface="Arial"/>
              </a:rPr>
              <a:t>The strongest work combined technical implementation with understanding of clinical context</a:t>
            </a:r>
            <a:endParaRPr b="0" lang="en-GB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658440" y="6473880"/>
            <a:ext cx="58518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  /  16-20 MARCH 2026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1"/>
          <p:cNvSpPr/>
          <p:nvPr/>
        </p:nvSpPr>
        <p:spPr>
          <a:xfrm>
            <a:off x="658440" y="384120"/>
            <a:ext cx="456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21212"/>
                </a:solidFill>
                <a:latin typeface="Arial"/>
              </a:rPr>
              <a:t>06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658440" y="804600"/>
            <a:ext cx="106981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21212"/>
                </a:solidFill>
                <a:latin typeface="Arial"/>
              </a:rPr>
              <a:t>LESSONS LEARNT</a:t>
            </a:r>
            <a:endParaRPr b="0" lang="en-GB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658440" y="1700640"/>
            <a:ext cx="228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4"/>
          <p:cNvSpPr/>
          <p:nvPr/>
        </p:nvSpPr>
        <p:spPr>
          <a:xfrm>
            <a:off x="987480" y="1700640"/>
            <a:ext cx="1027764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121212"/>
                </a:solidFill>
                <a:latin typeface="Arial"/>
              </a:rPr>
              <a:t>Best results came from teams that used AI agents effectively: Gemini, Claude Code and Codex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5"/>
          <p:cNvSpPr/>
          <p:nvPr/>
        </p:nvSpPr>
        <p:spPr>
          <a:xfrm>
            <a:off x="658440" y="2743200"/>
            <a:ext cx="228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987480" y="2743200"/>
            <a:ext cx="1027764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121212"/>
                </a:solidFill>
                <a:latin typeface="Arial"/>
              </a:rPr>
              <a:t>For non-subscribers, the best experience relied on the free Gemini student subscription; this was no longer available in October 2026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7"/>
          <p:cNvSpPr/>
          <p:nvPr/>
        </p:nvSpPr>
        <p:spPr>
          <a:xfrm>
            <a:off x="658440" y="4078080"/>
            <a:ext cx="228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987480" y="4078080"/>
            <a:ext cx="1027764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121212"/>
                </a:solidFill>
                <a:latin typeface="Arial"/>
              </a:rPr>
              <a:t>The solution is easier to build than to deploy: NHS deployment requires consideration of DTAC and DCB0129/DCB0160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9"/>
          <p:cNvSpPr/>
          <p:nvPr/>
        </p:nvSpPr>
        <p:spPr>
          <a:xfrm>
            <a:off x="658440" y="5403960"/>
            <a:ext cx="228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121212"/>
                </a:solidFill>
                <a:latin typeface="Arial"/>
              </a:rPr>
              <a:t>-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0"/>
          <p:cNvSpPr/>
          <p:nvPr/>
        </p:nvSpPr>
        <p:spPr>
          <a:xfrm>
            <a:off x="987480" y="5403960"/>
            <a:ext cx="1027764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121212"/>
                </a:solidFill>
                <a:latin typeface="Arial"/>
              </a:rPr>
              <a:t>A practical solution less dependent on regulation may have greater immediate value for the NHS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1"/>
          <p:cNvSpPr/>
          <p:nvPr/>
        </p:nvSpPr>
        <p:spPr>
          <a:xfrm>
            <a:off x="658440" y="6473880"/>
            <a:ext cx="58518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  /  16-20 MARCH 2026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658440" y="384120"/>
            <a:ext cx="456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21212"/>
                </a:solidFill>
                <a:latin typeface="Arial"/>
              </a:rPr>
              <a:t>07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658440" y="804600"/>
            <a:ext cx="106981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121212"/>
                </a:solidFill>
                <a:latin typeface="Arial"/>
              </a:rPr>
              <a:t>CLINICAL AI HACKATHON</a:t>
            </a:r>
            <a:endParaRPr b="0" lang="en-GB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658440" y="187452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21212"/>
                </a:solidFill>
                <a:latin typeface="Arial"/>
              </a:rPr>
              <a:t>THANK YOU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658440" y="251460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121212"/>
                </a:solidFill>
                <a:latin typeface="Arial"/>
              </a:rPr>
              <a:t>QUESTIONS?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658440" y="3986640"/>
            <a:ext cx="5623200" cy="68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21212"/>
                </a:solidFill>
                <a:latin typeface="Arial"/>
              </a:rPr>
              <a:t>daniel.sikar@citystgeorges.ac.uk</a:t>
            </a:r>
            <a:br>
              <a:rPr sz="1500"/>
            </a:br>
            <a:r>
              <a:rPr b="1" lang="en-US" sz="1500" spc="-1" strike="noStrike">
                <a:solidFill>
                  <a:srgbClr val="121212"/>
                </a:solidFill>
                <a:latin typeface="Arial"/>
              </a:rPr>
              <a:t>sevinj.teymurova@citystgeorges.ac.uk</a:t>
            </a:r>
            <a:br>
              <a:rPr sz="1500"/>
            </a:br>
            <a:r>
              <a:rPr b="1" lang="en-US" sz="1500" spc="-1" strike="noStrike">
                <a:solidFill>
                  <a:srgbClr val="121212"/>
                </a:solidFill>
                <a:latin typeface="Arial"/>
              </a:rPr>
              <a:t>teymurs@richmond.ac.uk</a:t>
            </a:r>
            <a:endParaRPr b="1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Picture 6" descr="clinical-ai-hackathon-logo.jpg"/>
          <p:cNvPicPr/>
          <p:nvPr/>
        </p:nvPicPr>
        <p:blipFill>
          <a:blip r:embed="rId1"/>
          <a:stretch/>
        </p:blipFill>
        <p:spPr>
          <a:xfrm>
            <a:off x="6312600" y="1991880"/>
            <a:ext cx="4847400" cy="3228120"/>
          </a:xfrm>
          <a:prstGeom prst="rect">
            <a:avLst/>
          </a:prstGeom>
          <a:ln w="0">
            <a:noFill/>
          </a:ln>
        </p:spPr>
      </p:pic>
      <p:sp>
        <p:nvSpPr>
          <p:cNvPr id="128" name="TextBox 7"/>
          <p:cNvSpPr/>
          <p:nvPr/>
        </p:nvSpPr>
        <p:spPr>
          <a:xfrm>
            <a:off x="658440" y="6473880"/>
            <a:ext cx="58518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121212"/>
                </a:solidFill>
                <a:latin typeface="Arial"/>
              </a:rPr>
              <a:t>CLINICAL AI HACKATHON  /  16-20 MARCH 2026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en-GB</dc:language>
  <cp:lastModifiedBy/>
  <dcterms:modified xsi:type="dcterms:W3CDTF">2026-10-01T13:50:38Z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