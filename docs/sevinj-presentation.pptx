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inical-ai-hackathon-splas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0"/>
            <a:ext cx="10972800" cy="6172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6455664"/>
            <a:ext cx="4114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21212"/>
                </a:solidFill>
                <a:latin typeface="Liberation Sans"/>
              </a:defRPr>
            </a:pPr>
            <a:r>
              <a:t>CLINICAL AI HACKATHON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21212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121212"/>
                </a:solidFill>
                <a:latin typeface="Liberation Sans"/>
              </a:defRPr>
            </a:pPr>
            <a:r>
              <a:t>CLINICAL AI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700784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21212"/>
                </a:solidFill>
                <a:latin typeface="Liberation Sans"/>
              </a:defRPr>
            </a:pPr>
            <a:r>
              <a:t>City St George's University of London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441448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441448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21212"/>
                </a:solidFill>
                <a:latin typeface="Liberation Sans"/>
              </a:defRPr>
            </a:pPr>
            <a:r>
              <a:t>16-20 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182112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182112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21212"/>
                </a:solidFill>
                <a:latin typeface="Liberation Sans"/>
              </a:defRPr>
            </a:pPr>
            <a:r>
              <a:t>74 signed 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922776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922776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21212"/>
                </a:solidFill>
                <a:latin typeface="Liberation Sans"/>
              </a:defRPr>
            </a:pPr>
            <a:r>
              <a:t>32 finalists - 8 teams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6344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663440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21212"/>
                </a:solidFill>
                <a:latin typeface="Liberation Sans"/>
              </a:defRPr>
            </a:pPr>
            <a:r>
              <a:t>Majority MSc students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5404104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404104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 b="0">
                <a:solidFill>
                  <a:srgbClr val="121212"/>
                </a:solidFill>
                <a:latin typeface="Liberation Sans"/>
              </a:defRPr>
            </a:pPr>
            <a:r>
              <a:t>20 March coincided with Eid - a poor date choice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21212"/>
                </a:solidFill>
                <a:latin typeface="Liberation Sans"/>
              </a:defRPr>
            </a:pPr>
            <a:r>
              <a:t>CLINICAL AI HACKATHON  /  16-20 MARCH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21212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121212"/>
                </a:solidFill>
                <a:latin typeface="Liberation Sans"/>
              </a:defRPr>
            </a:pPr>
            <a:r>
              <a:t>REAL-WORLD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700784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21212"/>
                </a:solidFill>
                <a:latin typeface="Liberation Sans"/>
              </a:defRPr>
            </a:pPr>
            <a:r>
              <a:t>Set by MOD and NHS clinicians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1460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514600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21212"/>
                </a:solidFill>
                <a:latin typeface="Liberation Sans"/>
              </a:defRPr>
            </a:pPr>
            <a:r>
              <a:t>50 synthetic MDT records provided by the NHS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328416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3328416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21212"/>
                </a:solidFill>
                <a:latin typeface="Liberation Sans"/>
              </a:defRPr>
            </a:pPr>
            <a:r>
              <a:t>Multidisciplinary Team (MDT) discussions record cancer-treatment decisions in unstructured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1772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17720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21212"/>
                </a:solidFill>
                <a:latin typeface="Liberation Sans"/>
              </a:defRPr>
            </a:pPr>
            <a:r>
              <a:t>Task: extract patient history and decisions into an Excel row to inform the next step in treatment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21212"/>
                </a:solidFill>
                <a:latin typeface="Liberation Sans"/>
              </a:defRPr>
            </a:pPr>
            <a:r>
              <a:t>CLINICAL AI HACKATHON  /  16-20 MARCH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21212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121212"/>
                </a:solidFill>
                <a:latin typeface="Liberation Sans"/>
              </a:defRPr>
            </a:pPr>
            <a:r>
              <a:t>THE CHALLENGE: SOURCE AND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121212"/>
                </a:solidFill>
                <a:latin typeface="Liberation Sans"/>
              </a:defRPr>
            </a:pPr>
            <a:r>
              <a:t>MDT RECORD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00200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121212"/>
                </a:solidFill>
                <a:latin typeface="Liberation Sans"/>
              </a:defRPr>
            </a:pPr>
            <a:r>
              <a:t>EXCEL OUTPUT ROW</a:t>
            </a:r>
          </a:p>
        </p:txBody>
      </p:sp>
      <p:pic>
        <p:nvPicPr>
          <p:cNvPr id="6" name="Picture 5" descr="mdt-outcome-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984248"/>
            <a:ext cx="4073274" cy="4133087"/>
          </a:xfrm>
          <a:prstGeom prst="rect">
            <a:avLst/>
          </a:prstGeom>
        </p:spPr>
      </p:pic>
      <p:pic>
        <p:nvPicPr>
          <p:cNvPr id="7" name="Picture 6" descr="prototype-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3429000"/>
            <a:ext cx="4663440" cy="5651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6473952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21212"/>
                </a:solidFill>
                <a:latin typeface="Liberation Sans"/>
              </a:defRPr>
            </a:pPr>
            <a:r>
              <a:t>CLINICAL AI HACKATHON  /  16-20 MARCH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21212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121212"/>
                </a:solidFill>
                <a:latin typeface="Liberation Sans"/>
              </a:defRPr>
            </a:pPr>
            <a:r>
              <a:t>REAL-WORLD PROBLEM, CONTINUED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700784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21212"/>
                </a:solidFill>
                <a:latin typeface="Liberation Sans"/>
              </a:defRPr>
            </a:pPr>
            <a:r>
              <a:t>Success criterion: the spreadsheet accurately reflects the history in the source MDT documents; unknown fields remain empty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90672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3090672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21212"/>
                </a:solidFill>
                <a:latin typeface="Liberation Sans"/>
              </a:defRPr>
            </a:pPr>
            <a:r>
              <a:t>Winning categories: Best solution, Best understanding, Overall winner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29768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297680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0">
                <a:solidFill>
                  <a:srgbClr val="121212"/>
                </a:solidFill>
                <a:latin typeface="Liberation Sans"/>
              </a:defRPr>
            </a:pPr>
            <a:r>
              <a:t>The strongest work combined technical implementation with understanding of clinical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21212"/>
                </a:solidFill>
                <a:latin typeface="Liberation Sans"/>
              </a:defRPr>
            </a:pPr>
            <a:r>
              <a:t>CLINICAL AI HACKATHON  /  16-20 MARCH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21212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121212"/>
                </a:solidFill>
                <a:latin typeface="Liberation Sans"/>
              </a:defRPr>
            </a:pPr>
            <a:r>
              <a:t>LESSONS LEARNT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700784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1700784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121212"/>
                </a:solidFill>
                <a:latin typeface="Liberation Sans"/>
              </a:defRPr>
            </a:pPr>
            <a:r>
              <a:t>Best results came from teams that used AI agents effectively: Gemini, Claude Code and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74320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743200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121212"/>
                </a:solidFill>
                <a:latin typeface="Liberation Sans"/>
              </a:defRPr>
            </a:pPr>
            <a:r>
              <a:t>For non-subscribers, the best experience relied on the free Gemini student subscription; this was no longer available in October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078224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078224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121212"/>
                </a:solidFill>
                <a:latin typeface="Liberation Sans"/>
              </a:defRPr>
            </a:pPr>
            <a:r>
              <a:t>The solution is easier to build than to deploy: NHS deployment requires consideration of DTAC and DCB0129/DCB0160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404104"/>
            <a:ext cx="228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21212"/>
                </a:solidFill>
                <a:latin typeface="Liberation Sans"/>
              </a:defRPr>
            </a:pPr>
            <a:r>
              <a:t>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5404104"/>
            <a:ext cx="10277856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121212"/>
                </a:solidFill>
                <a:latin typeface="Liberation Sans"/>
              </a:defRPr>
            </a:pPr>
            <a:r>
              <a:t>A practical solution less dependent on regulation may have greater immediate value for the NHS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21212"/>
                </a:solidFill>
                <a:latin typeface="Liberation Sans"/>
              </a:defRPr>
            </a:pPr>
            <a:r>
              <a:t>CLINICAL AI HACKATHON  /  16-20 MARCH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457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21212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69848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400" b="1">
                <a:solidFill>
                  <a:srgbClr val="121212"/>
                </a:solidFill>
                <a:latin typeface="Liberation Sans"/>
              </a:defRPr>
            </a:pPr>
            <a:r>
              <a:t>CLINICAL AI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874519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21212"/>
                </a:solidFill>
                <a:latin typeface="Liberation Sans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51460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21212"/>
                </a:solidFill>
                <a:latin typeface="Liberation Sans"/>
              </a:defRPr>
            </a:pPr>
            <a:r>
              <a:t>QUESTIONS?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86784"/>
            <a:ext cx="56235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0">
                <a:solidFill>
                  <a:srgbClr val="121212"/>
                </a:solidFill>
                <a:latin typeface="Liberation Sans"/>
              </a:defRPr>
            </a:pPr>
            <a:r>
              <a:t>daniel.sikar@citystgeorges.ac.uk</a:t>
            </a:r>
            <a:br/>
            <a:r>
              <a:t>sevinj.teymurova@citystgeorges.ac.uk</a:t>
            </a:r>
            <a:br/>
            <a:r>
              <a:t>teymurs@richmond.ac.uk</a:t>
            </a:r>
          </a:p>
        </p:txBody>
      </p:sp>
      <p:pic>
        <p:nvPicPr>
          <p:cNvPr id="7" name="Picture 6" descr="clinical-ai-hackathon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7968" y="1865376"/>
            <a:ext cx="1874519" cy="12484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6473952"/>
            <a:ext cx="58521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800" b="1">
                <a:solidFill>
                  <a:srgbClr val="121212"/>
                </a:solidFill>
                <a:latin typeface="Liberation Sans"/>
              </a:defRPr>
            </a:pPr>
            <a:r>
              <a:t>CLINICAL AI HACKATHON  /  16-20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